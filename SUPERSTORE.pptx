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34A26C9-66DD-4953-8DB7-8726CEF4F602}">
  <a:tblStyle styleId="{934A26C9-66DD-4953-8DB7-8726CEF4F60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34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48640" y="1645920"/>
            <a:ext cx="20116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Calibri"/>
              <a:buNone/>
            </a:pPr>
            <a:r>
              <a:rPr b="0" i="0" lang="en-US" sz="7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3566160" y="1097280"/>
            <a:ext cx="53035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Análisis Exploratorio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 Ventas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566160" y="260604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Superstore Sales Dataset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3566160" y="3108960"/>
            <a:ext cx="2286000" cy="36576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3566160" y="324612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David Vallejos  ·  2024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566160" y="361188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Gerencia Comercial  ·  Operaciones  ·  Finanzas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¿De qué trata este análisis?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Motivación · Audiencia · Alcance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5760" y="1051560"/>
            <a:ext cx="3931920" cy="3566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365760" y="1051560"/>
            <a:ext cx="3931920" cy="5029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502920" y="105156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Motivación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02920" y="1627632"/>
            <a:ext cx="3657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Las empresas de retail generan datos transaccionales que raramente se analizan de forma estratégica. Este proyecto identifica qué categorías, regiones y segmentos impulsan — o erosionan — la rentabilidad del negocio.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02920" y="3154680"/>
            <a:ext cx="3657600" cy="36576"/>
          </a:xfrm>
          <a:prstGeom prst="rect">
            <a:avLst/>
          </a:prstGeom>
          <a:solidFill>
            <a:srgbClr val="DDE3E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502920" y="32461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Período analizado: 2014 — 2017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02920" y="35661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Fuente: Superstore Dataset (Kaggle)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572000" y="1051560"/>
            <a:ext cx="4206240" cy="3566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572000" y="1051560"/>
            <a:ext cx="4206240" cy="50292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4709160" y="105156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Audiencia objetivo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709160" y="169164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🧑‍💼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212080" y="1673352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Gerencia Comercial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212080" y="1947672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Decisiones de pricing y mix de producto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709160" y="2587752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📦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212080" y="2569464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Gerencia de Operaciones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212080" y="2843784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Optimización de envíos y eficiencia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709160" y="3483864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💰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212080" y="3465576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Dirección Financiera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5212080" y="3739896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Revisión de márgenes y rentabilidad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Resumen del Dataset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Superstore Sales Dataset — Kaggle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274320" y="1051560"/>
            <a:ext cx="1993392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384048" y="1161288"/>
            <a:ext cx="1773936" cy="77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9.994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384048" y="1901952"/>
            <a:ext cx="1773936" cy="5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Registros (órdenes)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2450592" y="1051560"/>
            <a:ext cx="1993392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2560320" y="1161288"/>
            <a:ext cx="1773936" cy="77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1C7293"/>
                </a:solidFill>
                <a:latin typeface="Trebuchet MS"/>
                <a:ea typeface="Trebuchet MS"/>
                <a:cs typeface="Trebuchet MS"/>
                <a:sym typeface="Trebuchet MS"/>
              </a:rPr>
              <a:t>21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2560320" y="1901952"/>
            <a:ext cx="1773936" cy="5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Variables / Columnas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626864" y="1051560"/>
            <a:ext cx="1993392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4736592" y="1161288"/>
            <a:ext cx="1773936" cy="77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4 años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736592" y="1901952"/>
            <a:ext cx="1773936" cy="5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Período cubierto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(2014–2017)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803136" y="1051560"/>
            <a:ext cx="1993392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6912864" y="1161288"/>
            <a:ext cx="1773936" cy="77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475569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6912864" y="1901952"/>
            <a:ext cx="1773936" cy="5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Categorías principales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274320" y="2651760"/>
            <a:ext cx="8595360" cy="2194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457200" y="272491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Variables del dataset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2" name="Google Shape;72;p5"/>
          <p:cNvGraphicFramePr/>
          <p:nvPr/>
        </p:nvGraphicFramePr>
        <p:xfrm>
          <a:off x="365760" y="30358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{934A26C9-66DD-4953-8DB7-8726CEF4F602}</a:tableStyleId>
              </a:tblPr>
              <a:tblGrid>
                <a:gridCol w="2560325"/>
                <a:gridCol w="1280150"/>
                <a:gridCol w="4572000"/>
              </a:tblGrid>
              <a:tr h="241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Variable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342"/>
                    </a:solidFill>
                  </a:tcPr>
                </a:tc>
              </a:tr>
              <a:tr h="241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Numérica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Monto de venta por orden (USD)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241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Profit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Numérica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Ganancia o pérdida por orden (USD)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241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Discount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Numérica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Porcentaje de descuento aplicado (0–1)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241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Category / Sub-Category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Categórica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Clasificación del producto (3 cat / 17 sub-cat)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241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Region / Segment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Categórica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Región geográfica y segmento de cliente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241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Order Date / Ship Date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de compra y fecha de envío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Preguntas que guían el análisis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Seis hipótesis de negocio a responder con datos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320040" y="1051560"/>
            <a:ext cx="4206240" cy="10789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320040" y="1051560"/>
            <a:ext cx="502920" cy="107899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347472" y="1325880"/>
            <a:ext cx="4480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914400" y="1216152"/>
            <a:ext cx="3474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¿Qué categoría de producto genera mayor ganancia neta?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320040" y="2313432"/>
            <a:ext cx="4206240" cy="10789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320040" y="2313432"/>
            <a:ext cx="502920" cy="1078992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347472" y="2587752"/>
            <a:ext cx="4480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914400" y="2478024"/>
            <a:ext cx="3474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¿Los descuentos altos destruyen la rentabilidad?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320040" y="3575304"/>
            <a:ext cx="4206240" cy="10789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320040" y="3575304"/>
            <a:ext cx="502920" cy="107899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347472" y="3849624"/>
            <a:ext cx="4480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914400" y="3739896"/>
            <a:ext cx="3474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¿Qué región tiene el peor margen de rentabilidad?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4754880" y="1051560"/>
            <a:ext cx="4206240" cy="10789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4754880" y="1051560"/>
            <a:ext cx="502920" cy="107899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4782312" y="1325880"/>
            <a:ext cx="4480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5349240" y="1216152"/>
            <a:ext cx="3474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¿Hay estacionalidad en las ventas? ¿Cuándo ocurre el pico?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4754880" y="2313432"/>
            <a:ext cx="4206240" cy="10789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4754880" y="2313432"/>
            <a:ext cx="502920" cy="1078992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4782312" y="2587752"/>
            <a:ext cx="4480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5349240" y="2478024"/>
            <a:ext cx="3474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¿Qué segmento de cliente es el más rentable?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4754880" y="3575304"/>
            <a:ext cx="4206240" cy="10789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4754880" y="3575304"/>
            <a:ext cx="502920" cy="107899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4782312" y="3849624"/>
            <a:ext cx="4480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5349240" y="3739896"/>
            <a:ext cx="3474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¿Qué sub-categorías generan pérdidas sistemáticas?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01 · Ganancia por categoría de producto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¿Dónde se genera — y dónde se pierde — valor?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320040" y="1005840"/>
            <a:ext cx="5577840" cy="3337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harts/chart1_categoria.png" id="114" name="Google Shape;11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115568"/>
            <a:ext cx="5303520" cy="311810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7"/>
          <p:cNvSpPr/>
          <p:nvPr/>
        </p:nvSpPr>
        <p:spPr>
          <a:xfrm>
            <a:off x="6126480" y="1005840"/>
            <a:ext cx="2743200" cy="1051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6126480" y="1005840"/>
            <a:ext cx="64008" cy="10515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6291072" y="1078992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Office Supplies lidera en ganancia neta, impulsado por altos volúmenes con bajo costo.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6126480" y="2194560"/>
            <a:ext cx="2743200" cy="1051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6126480" y="2194560"/>
            <a:ext cx="64008" cy="105156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6291072" y="2267712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Technology tiene los mejores márgenes unitarios — pocas órdenes, alta rentabilidad.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6126480" y="3383280"/>
            <a:ext cx="274320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6126480" y="3383280"/>
            <a:ext cx="64008" cy="96012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6291072" y="3456432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Furniture arrastra pérdidas — revisión de sub-categorías urgente.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320040" y="4498848"/>
            <a:ext cx="5577840" cy="384048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429768" y="4498848"/>
            <a:ext cx="53583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Acción: focalizar inversión comercial en Office Supplies y Technology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02 · El impacto de los descuentos en la rentabilidad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¿Cuándo el descuento destruye valor?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320040" y="1005840"/>
            <a:ext cx="5760720" cy="3520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harts/chart2_descuento.png" id="135" name="Google Shape;13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115568"/>
            <a:ext cx="5486400" cy="330098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8"/>
          <p:cNvSpPr/>
          <p:nvPr/>
        </p:nvSpPr>
        <p:spPr>
          <a:xfrm>
            <a:off x="6309360" y="1005840"/>
            <a:ext cx="256032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6309360" y="1078992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E74C3C"/>
                </a:solidFill>
                <a:latin typeface="Trebuchet MS"/>
                <a:ea typeface="Trebuchet MS"/>
                <a:cs typeface="Trebuchet MS"/>
                <a:sym typeface="Trebuchet MS"/>
              </a:rPr>
              <a:t>-0.26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6309360" y="1719072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Correlación descuento–ganancia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6309360" y="2377440"/>
            <a:ext cx="2560320" cy="2148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6309360" y="2377440"/>
            <a:ext cx="2560320" cy="36576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6446520" y="2487168"/>
            <a:ext cx="23317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Descuento &gt; 20%</a:t>
            </a:r>
            <a:br>
              <a:rPr b="1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La mayoría de las transacciones con descuento mayor al 20% generan pérdidas directas.</a:t>
            </a:r>
            <a:b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Descuento = 0</a:t>
            </a:r>
            <a:br>
              <a:rPr b="1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Las órdenes sin descuento concentran prácticamente toda la ganancia del negocio.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320040" y="4663440"/>
            <a:ext cx="5760720" cy="384048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429768" y="4663440"/>
            <a:ext cx="55412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Acción: establecer techo de descuento del 20% — por encima se vende a pérdida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03 · Rentabilidad por región geográfica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¿Dónde hay ineficiencias operativas o comerciales?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320040" y="1005840"/>
            <a:ext cx="5577840" cy="3337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harts/chart3_region.png" id="153" name="Google Shape;15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115568"/>
            <a:ext cx="5303520" cy="3118104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9"/>
          <p:cNvSpPr/>
          <p:nvPr/>
        </p:nvSpPr>
        <p:spPr>
          <a:xfrm>
            <a:off x="6126480" y="1005840"/>
            <a:ext cx="274320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6172200" y="1033272"/>
            <a:ext cx="914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+8.8%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7086600" y="1033272"/>
            <a:ext cx="1691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West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6126480" y="1847088"/>
            <a:ext cx="274320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6172200" y="1874520"/>
            <a:ext cx="914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1C7293"/>
                </a:solidFill>
                <a:latin typeface="Trebuchet MS"/>
                <a:ea typeface="Trebuchet MS"/>
                <a:cs typeface="Trebuchet MS"/>
                <a:sym typeface="Trebuchet MS"/>
              </a:rPr>
              <a:t>+6.2%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7086600" y="1874520"/>
            <a:ext cx="1691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East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6126480" y="2688336"/>
            <a:ext cx="274320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6172200" y="2715768"/>
            <a:ext cx="914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+5.0%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7086600" y="2715768"/>
            <a:ext cx="1691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South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6126480" y="3529584"/>
            <a:ext cx="274320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6172200" y="3557016"/>
            <a:ext cx="914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E74C3C"/>
                </a:solidFill>
                <a:latin typeface="Trebuchet MS"/>
                <a:ea typeface="Trebuchet MS"/>
                <a:cs typeface="Trebuchet MS"/>
                <a:sym typeface="Trebuchet MS"/>
              </a:rPr>
              <a:t>-1.6%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7086600" y="3557016"/>
            <a:ext cx="1691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Central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320040" y="4498848"/>
            <a:ext cx="5577840" cy="384048"/>
          </a:xfrm>
          <a:prstGeom prst="rect">
            <a:avLst/>
          </a:prstGeom>
          <a:solidFill>
            <a:srgbClr val="FEE2E2"/>
          </a:solidFill>
          <a:ln cap="flat" cmpd="sng" w="12700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429768" y="4498848"/>
            <a:ext cx="53583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Acción: auditoría urgente de descuentos y costos en región Central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04 · Evolución de ventas 2014–2017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Tendencia y estacionalidad — ¿Cuándo planificar?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320040" y="1005840"/>
            <a:ext cx="8503920" cy="3291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harts/chart4_tendencia.png" id="177" name="Google Shape;17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115568"/>
            <a:ext cx="8229600" cy="307238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0"/>
          <p:cNvSpPr/>
          <p:nvPr/>
        </p:nvSpPr>
        <p:spPr>
          <a:xfrm>
            <a:off x="320040" y="4462272"/>
            <a:ext cx="2743200" cy="594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320040" y="4462272"/>
            <a:ext cx="64008" cy="5943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475488" y="4480560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Crecimiento sostenido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475488" y="4736592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Las ventas crecieron ~42% entre 2014 y 2017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3227832" y="4462272"/>
            <a:ext cx="2743200" cy="594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3227832" y="4462272"/>
            <a:ext cx="64008" cy="59436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"/>
          <p:cNvSpPr/>
          <p:nvPr/>
        </p:nvSpPr>
        <p:spPr>
          <a:xfrm>
            <a:off x="3383280" y="4480560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Pico estacional Q4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3383280" y="4736592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Cada cuarto trimestre muestra el mayor volumen del año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6135624" y="4462272"/>
            <a:ext cx="2743200" cy="594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"/>
          <p:cNvSpPr/>
          <p:nvPr/>
        </p:nvSpPr>
        <p:spPr>
          <a:xfrm>
            <a:off x="6135624" y="4462272"/>
            <a:ext cx="64008" cy="59436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6291072" y="4480560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Baja en Q1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6291072" y="4736592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El primer trimestre es históricamente el más débil — planificar recursos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05 · Desempeño por segmento de cliente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Consumer · Corporate · Home Office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320040" y="1005840"/>
            <a:ext cx="8503920" cy="3017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harts/chart5_segmento.png" id="199" name="Google Shape;19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115568"/>
            <a:ext cx="8229600" cy="2798064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1"/>
          <p:cNvSpPr/>
          <p:nvPr/>
        </p:nvSpPr>
        <p:spPr>
          <a:xfrm>
            <a:off x="320040" y="4160520"/>
            <a:ext cx="2743200" cy="8961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"/>
          <p:cNvSpPr/>
          <p:nvPr/>
        </p:nvSpPr>
        <p:spPr>
          <a:xfrm>
            <a:off x="320040" y="4160520"/>
            <a:ext cx="2743200" cy="27432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1"/>
          <p:cNvSpPr/>
          <p:nvPr/>
        </p:nvSpPr>
        <p:spPr>
          <a:xfrm>
            <a:off x="411480" y="416052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Consumer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411480" y="4462272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Mayor volumen de ventas y ganancia absoluta. El segmento más relevante en masa.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3227832" y="4160520"/>
            <a:ext cx="2743200" cy="8961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"/>
          <p:cNvSpPr/>
          <p:nvPr/>
        </p:nvSpPr>
        <p:spPr>
          <a:xfrm>
            <a:off x="3227832" y="4160520"/>
            <a:ext cx="2743200" cy="2743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"/>
          <p:cNvSpPr/>
          <p:nvPr/>
        </p:nvSpPr>
        <p:spPr>
          <a:xfrm>
            <a:off x="3319272" y="416052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Corporate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3319272" y="4462272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Ticket promedio más alto. Buena rentabilidad con menor cantidad de órdenes.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6135624" y="4160520"/>
            <a:ext cx="2743200" cy="8961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"/>
          <p:cNvSpPr/>
          <p:nvPr/>
        </p:nvSpPr>
        <p:spPr>
          <a:xfrm>
            <a:off x="6135624" y="4160520"/>
            <a:ext cx="2743200" cy="2743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1"/>
          <p:cNvSpPr/>
          <p:nvPr/>
        </p:nvSpPr>
        <p:spPr>
          <a:xfrm>
            <a:off x="6227064" y="416052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Home Office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6227064" y="4462272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Mejor margen porcentual. Menor volumen pero muy eficiente.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06 · Sub-categorías con pérdidas sistemáticas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No todas las líneas de producto suman — algunas destruyen valor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320040" y="1005840"/>
            <a:ext cx="5760720" cy="3794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harts/chart6_subcategoria.png" id="221" name="Google Shape;22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115568"/>
            <a:ext cx="5486400" cy="3575304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2"/>
          <p:cNvSpPr/>
          <p:nvPr/>
        </p:nvSpPr>
        <p:spPr>
          <a:xfrm>
            <a:off x="6309360" y="1005840"/>
            <a:ext cx="2560320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"/>
          <p:cNvSpPr/>
          <p:nvPr/>
        </p:nvSpPr>
        <p:spPr>
          <a:xfrm>
            <a:off x="6309360" y="1005840"/>
            <a:ext cx="2560320" cy="384048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2"/>
          <p:cNvSpPr/>
          <p:nvPr/>
        </p:nvSpPr>
        <p:spPr>
          <a:xfrm>
            <a:off x="6446520" y="1005840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Peores sub-categorías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6446520" y="1444752"/>
            <a:ext cx="2331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E74C3C"/>
                </a:solidFill>
                <a:latin typeface="Consolas"/>
                <a:ea typeface="Consolas"/>
                <a:cs typeface="Consolas"/>
                <a:sym typeface="Consolas"/>
              </a:rPr>
              <a:t>📦 Tables:     -$154.880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E74C3C"/>
                </a:solidFill>
                <a:latin typeface="Consolas"/>
                <a:ea typeface="Consolas"/>
                <a:cs typeface="Consolas"/>
                <a:sym typeface="Consolas"/>
              </a:rPr>
              <a:t>📦 Bookcases:  -$151.890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6309360" y="2606040"/>
            <a:ext cx="2560320" cy="2194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2"/>
          <p:cNvSpPr/>
          <p:nvPr/>
        </p:nvSpPr>
        <p:spPr>
          <a:xfrm>
            <a:off x="6309360" y="2606040"/>
            <a:ext cx="2560320" cy="38404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2"/>
          <p:cNvSpPr/>
          <p:nvPr/>
        </p:nvSpPr>
        <p:spPr>
          <a:xfrm>
            <a:off x="6446520" y="2606040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Líderes de ganancia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6446520" y="3063240"/>
            <a:ext cx="23317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Copiers, Phones y Chairs</a:t>
            </a:r>
            <a:br>
              <a:rPr b="1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concentran la mayor parte de la rentabilidad del negocio. Son las líneas a proteger y expandir.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320040" y="4919472"/>
            <a:ext cx="5760720" cy="384048"/>
          </a:xfrm>
          <a:prstGeom prst="rect">
            <a:avLst/>
          </a:prstGeom>
          <a:solidFill>
            <a:srgbClr val="FEE2E2"/>
          </a:solidFill>
          <a:ln cap="flat" cmpd="sng" w="12700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"/>
          <p:cNvSpPr/>
          <p:nvPr/>
        </p:nvSpPr>
        <p:spPr>
          <a:xfrm>
            <a:off x="429768" y="4919472"/>
            <a:ext cx="55412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Acción: revisar si Tables y Bookcases deben discontinuarse o repricearse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3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Insights clave del análisis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Las 6 respuestas a las hipótesis planteadas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320040" y="1024128"/>
            <a:ext cx="4206240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3"/>
          <p:cNvSpPr/>
          <p:nvPr/>
        </p:nvSpPr>
        <p:spPr>
          <a:xfrm>
            <a:off x="320040" y="1024128"/>
            <a:ext cx="475488" cy="11430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3"/>
          <p:cNvSpPr/>
          <p:nvPr/>
        </p:nvSpPr>
        <p:spPr>
          <a:xfrm>
            <a:off x="338328" y="1353312"/>
            <a:ext cx="4389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886968" y="1152144"/>
            <a:ext cx="3520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Office Supplies y Technology son las categorías más rentables. Furniture genera pérdidas.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320040" y="2322576"/>
            <a:ext cx="4206240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3"/>
          <p:cNvSpPr/>
          <p:nvPr/>
        </p:nvSpPr>
        <p:spPr>
          <a:xfrm>
            <a:off x="320040" y="2322576"/>
            <a:ext cx="475488" cy="114300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3"/>
          <p:cNvSpPr/>
          <p:nvPr/>
        </p:nvSpPr>
        <p:spPr>
          <a:xfrm>
            <a:off x="338328" y="2651760"/>
            <a:ext cx="4389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886968" y="2450592"/>
            <a:ext cx="3520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Descuentos superiores al 20% destruyen rentabilidad. Correlación negativa de -0.26.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320040" y="3621024"/>
            <a:ext cx="4206240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3"/>
          <p:cNvSpPr/>
          <p:nvPr/>
        </p:nvSpPr>
        <p:spPr>
          <a:xfrm>
            <a:off x="320040" y="3621024"/>
            <a:ext cx="475488" cy="11430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3"/>
          <p:cNvSpPr/>
          <p:nvPr/>
        </p:nvSpPr>
        <p:spPr>
          <a:xfrm>
            <a:off x="338328" y="3950208"/>
            <a:ext cx="4389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886968" y="3749040"/>
            <a:ext cx="3520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Central es la única región con margen negativo (-1.6%). West lidera con +8.8%.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4754880" y="1024128"/>
            <a:ext cx="4206240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3"/>
          <p:cNvSpPr/>
          <p:nvPr/>
        </p:nvSpPr>
        <p:spPr>
          <a:xfrm>
            <a:off x="4754880" y="1024128"/>
            <a:ext cx="475488" cy="114300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3"/>
          <p:cNvSpPr/>
          <p:nvPr/>
        </p:nvSpPr>
        <p:spPr>
          <a:xfrm>
            <a:off x="4773168" y="1353312"/>
            <a:ext cx="4389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5321808" y="1152144"/>
            <a:ext cx="3520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Las ventas crecen sostenidamente. El Q4 es el pico anual — planificar inventario con anticipación.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4754880" y="2322576"/>
            <a:ext cx="4206240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3"/>
          <p:cNvSpPr/>
          <p:nvPr/>
        </p:nvSpPr>
        <p:spPr>
          <a:xfrm>
            <a:off x="4754880" y="2322576"/>
            <a:ext cx="475488" cy="11430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3"/>
          <p:cNvSpPr/>
          <p:nvPr/>
        </p:nvSpPr>
        <p:spPr>
          <a:xfrm>
            <a:off x="4773168" y="2651760"/>
            <a:ext cx="4389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5321808" y="2450592"/>
            <a:ext cx="3520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Home Office tiene el mejor margen %. Consumer el mayor volumen. Corporate el mejor ticket.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4754880" y="3621024"/>
            <a:ext cx="4206240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3"/>
          <p:cNvSpPr/>
          <p:nvPr/>
        </p:nvSpPr>
        <p:spPr>
          <a:xfrm>
            <a:off x="4754880" y="3621024"/>
            <a:ext cx="475488" cy="114300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3"/>
          <p:cNvSpPr/>
          <p:nvPr/>
        </p:nvSpPr>
        <p:spPr>
          <a:xfrm>
            <a:off x="4773168" y="3950208"/>
            <a:ext cx="4389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5321808" y="3749040"/>
            <a:ext cx="3520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Tables y Bookcases acumulan pérdidas &gt; $300K. Son candidatos a discontinuación.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342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4"/>
          <p:cNvSpPr/>
          <p:nvPr/>
        </p:nvSpPr>
        <p:spPr>
          <a:xfrm>
            <a:off x="274320" y="1371600"/>
            <a:ext cx="26517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Próximos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pasos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4"/>
          <p:cNvSpPr/>
          <p:nvPr/>
        </p:nvSpPr>
        <p:spPr>
          <a:xfrm>
            <a:off x="3566160" y="777240"/>
            <a:ext cx="384048" cy="384048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4"/>
          <p:cNvSpPr/>
          <p:nvPr/>
        </p:nvSpPr>
        <p:spPr>
          <a:xfrm>
            <a:off x="3566160" y="7772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4"/>
          <p:cNvSpPr/>
          <p:nvPr/>
        </p:nvSpPr>
        <p:spPr>
          <a:xfrm>
            <a:off x="4069080" y="804672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Establecer tope máximo del 20% en política de descuentos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4"/>
          <p:cNvSpPr/>
          <p:nvPr/>
        </p:nvSpPr>
        <p:spPr>
          <a:xfrm>
            <a:off x="3566160" y="1618488"/>
            <a:ext cx="384048" cy="384048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4"/>
          <p:cNvSpPr/>
          <p:nvPr/>
        </p:nvSpPr>
        <p:spPr>
          <a:xfrm>
            <a:off x="3566160" y="16184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4"/>
          <p:cNvSpPr/>
          <p:nvPr/>
        </p:nvSpPr>
        <p:spPr>
          <a:xfrm>
            <a:off x="4069080" y="164592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Auditoría de costos y descuentos en región Central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4"/>
          <p:cNvSpPr/>
          <p:nvPr/>
        </p:nvSpPr>
        <p:spPr>
          <a:xfrm>
            <a:off x="3566160" y="2459736"/>
            <a:ext cx="384048" cy="384048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4"/>
          <p:cNvSpPr/>
          <p:nvPr/>
        </p:nvSpPr>
        <p:spPr>
          <a:xfrm>
            <a:off x="3566160" y="245973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4"/>
          <p:cNvSpPr/>
          <p:nvPr/>
        </p:nvSpPr>
        <p:spPr>
          <a:xfrm>
            <a:off x="4069080" y="2487168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Revisar viabilidad de Tables y Bookcases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4"/>
          <p:cNvSpPr/>
          <p:nvPr/>
        </p:nvSpPr>
        <p:spPr>
          <a:xfrm>
            <a:off x="3566160" y="3300984"/>
            <a:ext cx="384048" cy="384048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4"/>
          <p:cNvSpPr/>
          <p:nvPr/>
        </p:nvSpPr>
        <p:spPr>
          <a:xfrm>
            <a:off x="3566160" y="330098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4"/>
          <p:cNvSpPr/>
          <p:nvPr/>
        </p:nvSpPr>
        <p:spPr>
          <a:xfrm>
            <a:off x="4069080" y="3328416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Preparar stock con anticipación para pico de Q4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3566160" y="4142232"/>
            <a:ext cx="384048" cy="384048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4"/>
          <p:cNvSpPr/>
          <p:nvPr/>
        </p:nvSpPr>
        <p:spPr>
          <a:xfrm>
            <a:off x="3566160" y="414223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4"/>
          <p:cNvSpPr/>
          <p:nvPr/>
        </p:nvSpPr>
        <p:spPr>
          <a:xfrm>
            <a:off x="4069080" y="4169664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Estrategia diferenciada por segmento de cliente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3429000" y="4709160"/>
            <a:ext cx="5486400" cy="36576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4"/>
          <p:cNvSpPr/>
          <p:nvPr/>
        </p:nvSpPr>
        <p:spPr>
          <a:xfrm>
            <a:off x="3429000" y="479145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David Vallejos  ·  Análisis Exploratorio de Ventas  ·  2024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